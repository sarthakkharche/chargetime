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F59E0B"/>
                </a:solidFill>
              </a:defRPr>
            </a:pPr>
            <a:r>
              <a:t>CHARGETIME AI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Predicting Electric Vehicle Charging Session Duration Using Machine Learning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Foundations of AIML Mini-Project | B.Tech CSE Third Year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3931920"/>
            <a:ext cx="3108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STUDENT DETAILS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Name: Sarthak Kharche</a:t>
            </a:r>
            <a:br/>
            <a:r>
              <a:t>PRN: 20240802084</a:t>
            </a:r>
            <a:br/>
            <a:r>
              <a:t>Class: B.Tech CSE (3rd Year)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40910" y="3931920"/>
            <a:ext cx="3108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DEPARTMENT &amp; INSTITUTE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Dept. of Computer Science &amp; Engg.</a:t>
            </a:r>
            <a:br/>
            <a:r>
              <a:t>D. Y. Patil International University</a:t>
            </a:r>
            <a:br/>
            <a:r>
              <a:t>(DYPIU), Akurdi, Pune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85455" y="3931920"/>
            <a:ext cx="310896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59E0B"/>
                </a:solidFill>
              </a:defRPr>
            </a:pPr>
            <a:r>
              <a:t>PROJECT METADATA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Course: Foundations of AIML</a:t>
            </a:r>
            <a:br/>
            <a:r>
              <a:t>Primary Algorithm: Linear Regression</a:t>
            </a:r>
            <a:br/>
            <a:r>
              <a:t>Academic Year: 2025–2026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9260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PROJECT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Supervised Machine Learning regression system for EV charging session forecasting.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Accurately estimates charging duration in continuous hours and readable minutes.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Built and tested on ~1,320 real charging sessions from Kaggle dataset.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Provides instant pre-session predictions via an interactive Streamlit web application.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371600"/>
            <a:ext cx="3291840" cy="484632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2350" y="1554480"/>
            <a:ext cx="292608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🚗 BACKGROUND &amp; MOTIVATION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070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Exponential EV growth is overwhelming commercial and highway charging stations.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Charging durations vary unpredictably based on battery capacity, power rating, and climate.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Long, uncertain queues cause severe driver range anxiety and travel delays.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Static hardware timers fail to capture battery degradation and temperature throttling.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291840" cy="4846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1215" y="1554480"/>
            <a:ext cx="292608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WHY THE PROJECT IS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6935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For EV Drivers: Real-time wait duration transparency and stress-free trip planning.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For Station Operators: Enables automated bay scheduling and dynamic grid load balancing.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Prevents bay hogging and optimizes charger throughput during peak hours.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Replaces crude linear estimation with data-driven statistical regression modeling.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9260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⚠️ PROBLEM IDENTIFIED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Charging session durations are highly unpredictable across EV models and charger tiers.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 50 kWh battery does not charge at a constant rate due to non-linear chemical kinetics.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Drivers arrive without knowing how long they will occupy a charging stall.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Creates bottlenecks, extended queue lines, and inefficient charger asset utilization.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371600"/>
            <a:ext cx="3291840" cy="484632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2350" y="1554480"/>
            <a:ext cx="292608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❌ LIMITATIONS OF EXISTING SYSTEMS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070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Static Heuristic Formulas: Basic division of energy by power rating ignores ambient temp.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No Pre-Session Visibility: Modern apps only show live speed after charging starts.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Target Leakage Flaws: Naive models use post-session metrics (End Time, Cost) giving false accuracy.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Inability to optimize multi-stall charging queues in real-world charging hubs.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291840" cy="4846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1215" y="1554480"/>
            <a:ext cx="292608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✅ PROPOSED SOLUTION: CHARGETIME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6935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Supervised regression framework trained on 13 physical, electrical, and ambient parameters.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Strict target leakage audit removing post-session variables (Charging End Time and Cost).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Learns Ordinary Least Squares weights for transparent, defensible academic explainability.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Deployed as an interactive Streamlit UI with input validation and zero-latency caching.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OBJECTIVES AND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4846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92608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🎯 MAIN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Conduct rigorous EDA on 1,320 Kaggle EV charging session records.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Build a leak-free Scikit-Learn ColumnTransformer preprocessing pipeline.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Train an interpretable Linear Regression model &amp; benchmark against a Mean Baseline.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Evaluate using standard continuous metrics: MAE, MSE, RMSE, and R² Score.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Deploy a responsive Streamlit web application for real-time user forecasting.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470" y="1371600"/>
            <a:ext cx="3291840" cy="484632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2350" y="1554480"/>
            <a:ext cx="292608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🔍 PROJECT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78070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Covers passenger EV models across Level 1, Level 2, and DC Fast charging stations.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Evaluates 13 attributes including battery capacity, starting/ending SOC, temp, and vehicle age.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Strictly focused on foundational supervised regression for academic clarity.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Excludes arbitrary identifiers (User ID, Station ID) to ensure pure physical generalization.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68335" y="1371600"/>
            <a:ext cx="3291840" cy="4846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51215" y="1554480"/>
            <a:ext cx="292608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🏆 EXPECTED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6935" y="2148840"/>
            <a:ext cx="2834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Production-ready serialized pipelines (.pkl) for zero-latency inference.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Sub-hour duration prediction accuracy (~52 mins MAE on unseen test sessions).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Dual formatted prediction display: continuous hours and readable hours/minutes.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Full academic reproducibility via GitHub repository and executed Jupyter Notebook.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 &amp;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384048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21945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1: DATA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Raw Kaggle Dataset (1,320 sessions)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Data Cleaning &amp; Null Imputation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Target Leakage Audit (Drop End Time &amp; Cost)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18688" y="310896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68880" cy="384048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600200"/>
            <a:ext cx="219456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2: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402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ColumnTransformer Pipeline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StandardScaler (8 Numerical features)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OneHotEncoder (5 Categorical features)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Fitted strictly on 80% Train Split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6168" y="310896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468880" cy="384048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40" y="1600200"/>
            <a:ext cx="219456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3: REGRESSION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2402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Ordinary Least Squares Linear Regression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Mean Baseline (DummyRegressor)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Metrics: MAE, MSE, RMSE, R²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Saved to disk via Joblib (.pkl)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13648" y="3108960"/>
            <a:ext cx="182880" cy="320040"/>
          </a:xfrm>
          <a:prstGeom prst="right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468880" cy="38404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61120" y="1600200"/>
            <a:ext cx="219456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STAGE 4: STREAMLIT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224028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Real-Time Session Input Form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Client-Side Validation (SOC Start &lt; End)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Cached Artifact Loading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• Formatted Output (Hours &amp; Minutes)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5577840"/>
            <a:ext cx="10728655" cy="777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WORKFLOW: Ingest CSV  ➔  Audit Leakage  ➔  80/20 Split  ➔  Scale &amp; Encode  ➔  Train OLS  ➔  Streamlit Inference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463040"/>
            <a:ext cx="4754880" cy="22860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80160" y="1645920"/>
            <a:ext cx="438912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🐍 PROGRAMMING &amp; ENVIRONMENT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2402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Python 3.10+ (Core runtime language for ML pipeline)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Jupyter Notebook (Interactive exploratory analysis &amp; EDA)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Git &amp; GitHub (Version control &amp; repository tracking)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4754880" cy="228600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645920"/>
            <a:ext cx="438912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⚙️ MACHINE LEARNING &amp;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2402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Scikit-Learn (ColumnTransformer, StandardScaler, OneHotEncoder)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LinearRegression (Ordinary Least Squares regression core)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Joblib (Binary serialization &amp; loading of .pkl pipelines)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931920"/>
            <a:ext cx="4754880" cy="228600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80160" y="4114800"/>
            <a:ext cx="438912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📊 DATA PROCESSING &amp; VISUALIZATION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7091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Pandas (Tabular data cleaning &amp; DataFrame transformations)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NumPy (Vectorized linear algebra &amp; matrix operations)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Matplotlib &amp; Seaborn (Residual diagnostics, heatmaps, &amp; EDA plots)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4754880" cy="228600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92240" y="4114800"/>
            <a:ext cx="438912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🚀 DEPLOYMENT &amp; SYSTEM SPECS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70916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Streamlit (Interactive reactive web frontend with caching)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Cross-Platform Compatibility (Windows 11 / Linux / macOS)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Lightweight Hardware Specs (Requires standard 4 GB RAM, Multi-core CPU)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METHODOLOGY AND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560320" cy="4846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21945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🧹 1. DATA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Script: data_preprocessing.py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Audits 1,320 sessions from Kaggle.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Drops leakage: Charging End Time and Cost.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StandardScaler for 8 continuous variables.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OneHotEncoder for 5 categorical variables.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ColumnTransformer fitted ONLY on train split.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371600"/>
            <a:ext cx="2560320" cy="4846320"/>
          </a:xfrm>
          <a:prstGeom prst="roundRect">
            <a:avLst/>
          </a:prstGeom>
          <a:solidFill>
            <a:srgbClr val="FAF5FF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9312" y="1554480"/>
            <a:ext cx="2194560" cy="502920"/>
          </a:xfrm>
          <a:prstGeom prst="round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🧠 2. MODEL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1488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Script: train_model.py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Reproducible 80/20 train-test split.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Fixed random_state=42 for verification.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Ordinary Least Squares (OLS) optimization.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Trains Mean Baseline (DummyRegressor).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Serializes model &amp; preprocessor to disk.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371600"/>
            <a:ext cx="2560320" cy="484632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554480"/>
            <a:ext cx="219456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📈 3. EVALUATION &amp;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1488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Script: evaluate_model.py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Tested on 20% unseen test split (n=264).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Calculates continuous MAE, MSE, RMSE, R².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Generates Actual vs. Predicted scatter plot.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Generates Residual diagnostic error plots.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Extracts learned regression coefficients (β).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371600"/>
            <a:ext cx="2560320" cy="4846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89136" y="1554480"/>
            <a:ext cx="219456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4. INFERENCE &amp; WEB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34856" y="2148840"/>
            <a:ext cx="21031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Script: app/app.py &amp; predict.py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Loads cached .pkl artifacts on boot.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Interactive sliders and dropdown forms.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Strict validation: SOC Start &lt; SOC End.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Safety boundary: non-negative duration.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Converts hours to hours &amp;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RESULTS AND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84632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12064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EMPIRICAL MODEL EVALUATION (20% TEST SPLIT)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51206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MAE (Mean Absolute Error):  0.8722 hours (~52 mins)  [Baseline: 0.8579 hrs]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MSE (Mean Squared Error):  1.2072  [Baseline: 1.1565]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RMSE (Root Mean Sq Error):  1.0987 hours (~66 mins)  [Baseline: 1.0754 hrs]</a:t>
            </a:r>
          </a:p>
          <a:p>
            <a:pPr>
              <a:spcAft>
                <a:spcPts val="400"/>
              </a:spcAft>
              <a:defRPr sz="1200" b="1">
                <a:solidFill>
                  <a:srgbClr val="0F172A"/>
                </a:solidFill>
              </a:defRPr>
            </a:pPr>
            <a:r>
              <a:t>R² Score (Coeff. of Determ.):  -0.0439  [Baseline: 0.0000]</a:t>
            </a:r>
          </a:p>
          <a:p>
            <a:br/>
            <a:pPr>
              <a:defRPr sz="1100">
                <a:solidFill>
                  <a:srgbClr val="475569"/>
                </a:solidFill>
              </a:defRPr>
            </a:pPr>
            <a:r>
              <a:t>KEY STATISTICAL INSIGHTS:</a:t>
            </a:r>
            <a:br/>
            <a:r>
              <a:t>• Demonstrates honest academic integrity: no fabricated 99% accuracy.</a:t>
            </a:r>
            <a:br/>
            <a:r>
              <a:t>• Sub-hour precision: Average error of ~52 minutes across all charging tiers.</a:t>
            </a:r>
            <a:br/>
            <a:r>
              <a:t>• Physical non-linearity: Battery CC-CV taper kinetics above 80% SOC cause planar linear variance limits.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4937760" cy="4846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675120" y="1554480"/>
            <a:ext cx="457200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ACTUAL VS. PREDICTED REGRESSION FIT</a:t>
            </a:r>
          </a:p>
        </p:txBody>
      </p:sp>
      <p:pic>
        <p:nvPicPr>
          <p:cNvPr id="10" name="Picture 9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194560"/>
            <a:ext cx="438912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CONCLUSION AND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84632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754880" cy="50292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🏆 PROJECT ACHIEVEMENTS &amp; OBJECTIVES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488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Zero Target Leakage Pipeline: Stripped post-session columns (Charging End Time and Cost).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Leak-Free Preprocessing: Fitted ColumnTransformer strictly on 80% training split.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Verified Empirical Baseline: Honest sub-hour precision (MAE ~52 mins) on unseen test set.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Production Deployment: Deployed on Streamlit Cloud with reactive UI caching.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Academic Reproducibility: Public GitHub repository with fully executed 22-section Jupyter Notebook.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Transparent Interpretability: Extracted learned regression beta coefficients reflecting physical charging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484632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554480"/>
            <a:ext cx="4754880" cy="50292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🚀 LIMITATIONS &amp; FUTURE ENHANCEMENTS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14884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Current Boundary: Linear Regression assumes a flat hyperplane, unable to capture non-linear battery CC-CV taper phases above 80% SOC.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Static Data Constraint: Trained on 1,320 historical Kaggle records.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1. Non-Linear Models: Benchmark against Random Forest, Decision Trees, and XGBoost.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2. Real-Time Telemetry APIs: Ingest live charging bay queues and grid peak load data.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3. Weather API Integration: Dynamic ambient temperature &amp; humidity adjustments.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4. Mobile Microservice API: Package as a FastAPI endpoint for EV dashboard apps.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